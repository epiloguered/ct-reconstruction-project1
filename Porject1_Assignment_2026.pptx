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20"/>
  </p:notesMasterIdLst>
  <p:handoutMasterIdLst>
    <p:handoutMasterId r:id="rId21"/>
  </p:handoutMasterIdLst>
  <p:sldIdLst>
    <p:sldId id="346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4" r:id="rId10"/>
    <p:sldId id="360" r:id="rId11"/>
    <p:sldId id="361" r:id="rId12"/>
    <p:sldId id="362" r:id="rId13"/>
    <p:sldId id="363" r:id="rId14"/>
    <p:sldId id="365" r:id="rId15"/>
    <p:sldId id="369" r:id="rId16"/>
    <p:sldId id="366" r:id="rId17"/>
    <p:sldId id="367" r:id="rId18"/>
    <p:sldId id="347" r:id="rId19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A3F76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72" y="1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792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BC11A6BC-E67A-44EE-84FC-223B23A29A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768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FB669E7-BE37-4B96-B4DF-711B375E83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2063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371A00-80BD-440E-9ADE-0C4839A88013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815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B32E-1D26-3466-F4FF-37149DDC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DB8102FF-FDC9-AC3F-9F1B-C594E165BD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A19CFCD-0562-2FAE-213B-05F8A9DF24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6DA1F59F-957D-2C95-1AF2-DED48D95E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8129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169B-9F81-177B-C423-EDB60E0E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DCE0B326-D43D-706F-2B6C-B27568D50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D2D26590-4AE0-E282-132C-8FB2DA900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5C06E9E-7D1E-B006-B83B-DA3F33B82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8883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79BA-F161-6BF1-FC9F-0BD03C9C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5498811-E530-F004-A377-DA7CCD019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73698F7-99EC-456E-8090-9E4FE13C3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D771D5F-692C-F793-22F3-9A407AE43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813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3118-4D22-6DAA-5DD1-20553E18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A80CB6F-40D0-40D5-F426-8EDB11B9FC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88C1CDD-3769-76BE-727C-D1F979B6DC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685BB59-A738-AEFB-C268-EEC28EB23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781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82A1-D2AE-D040-AC63-6E02BB2B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FE227F6-A9AF-71DC-89B3-98ABBA45A6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5394535-C753-E0D0-E700-4A0C8550FB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B87D0EF-A950-8982-5236-FA51924A8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2792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4EEF-111D-4670-BDFF-6AF17CA3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3CCCE49-98CB-22D5-8C36-4CF038B848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4E0B51B-B738-AB94-40E5-E480515E9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ED37A33-F1F6-0D5C-8EA2-16311038A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520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3EEEC-BBEA-EF34-DA9F-71C73022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A32B507-6F5C-8B99-BBC6-B037940B8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36DF062-E494-00E5-321D-B54A72A33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49B56613-EEBF-1B97-1392-119AB308C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458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81BA-2EAC-5770-607A-333F3919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8CC2A8E-61F1-4A74-43AB-0E690BE36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3A82EDE-9CD8-9010-F3FA-BA5755DCC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73C56A9-BBBB-7DEA-8C73-D50106299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6355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D36D-80EC-1891-5087-5AA169E4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33523A0-5F2E-0B51-E1DC-93978E703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9720F38-40CC-F3BA-2D35-09F78589D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8131EE8-BDC3-7D34-622A-356EC37AC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0725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96420-8F30-2512-DF1A-B3F4351E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3281027-5E4C-DE57-6C73-E5A32C76C3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512BB3F-B76A-252E-3D19-CC55A3FEE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FEB2CEDD-3F97-1EB9-339B-493043113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781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251D-83FD-E9B2-5032-69C0B007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A19F33E-C380-6464-ED11-250DCCDC81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CB19AD91-DA10-CBA5-E570-C396E7FA92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6B983324-E9A1-0C45-E363-2820F6F4E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260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2442-8570-E1AF-971A-92BAC147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D8BE4A-7FE6-9C14-821F-41CF444E9D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2FED690-D687-2239-9A80-1D2B921D3B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B4DD26F-816F-8E44-A324-CAE1C48CE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008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CE7E-52BD-0587-87DE-B4C255A4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1A42D35E-7C98-D852-8DBB-C98B14A038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89D9110C-72EE-190D-684C-9F32D09CE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7378D4D-AE9C-38F0-3AE8-748D59C0F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9089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B14D-944B-1284-3AE6-C3DF6D85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7E91086-C23F-9738-C17F-94E918CFC8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CA6FBD2-6B60-B8BD-0B38-DEC6F0722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5A3633A-F172-E378-EA7D-C73D31EA2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079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9FAB-5E54-BC2D-3C9C-2FECF07A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487603A-139B-ABCE-4138-061A79DEEE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CFF3CFD8-67CB-7C5D-607E-DF6BDDE952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EDC2D42-C7DA-C058-C2A9-05AC2CD56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238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E647-15E2-7497-432A-9A39EDBE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C07033E-3331-C982-E379-83C89C69B8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C3F2614-697B-3D87-C9EE-618F7C7B4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9769194-49DC-A7C8-C03A-B9A64C584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7503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>
            <a:extLst>
              <a:ext uri="{FF2B5EF4-FFF2-40B4-BE49-F238E27FC236}">
                <a16:creationId xmlns:a16="http://schemas.microsoft.com/office/drawing/2014/main" id="{D12B27E8-1032-4B18-AC48-21E046067E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7151"/>
            <a:ext cx="12191999" cy="3350849"/>
          </a:xfrm>
          <a:prstGeom prst="rect">
            <a:avLst/>
          </a:prstGeom>
        </p:spPr>
      </p:pic>
      <p:sp>
        <p:nvSpPr>
          <p:cNvPr id="44" name="Rectangle 6">
            <a:extLst>
              <a:ext uri="{FF2B5EF4-FFF2-40B4-BE49-F238E27FC236}">
                <a16:creationId xmlns:a16="http://schemas.microsoft.com/office/drawing/2014/main" id="{8C9CB70E-0FF9-4526-B2AF-5ABF152EE3DF}"/>
              </a:ext>
            </a:extLst>
          </p:cNvPr>
          <p:cNvSpPr/>
          <p:nvPr userDrawn="1"/>
        </p:nvSpPr>
        <p:spPr>
          <a:xfrm>
            <a:off x="0" y="0"/>
            <a:ext cx="12191999" cy="3429000"/>
          </a:xfrm>
          <a:prstGeom prst="rect">
            <a:avLst/>
          </a:prstGeom>
          <a:solidFill>
            <a:srgbClr val="0A3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31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692276"/>
            <a:ext cx="10363200" cy="1736725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18231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620616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7A95-F7B2-4ED3-99FF-0D67A16961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46" name="直接连接符 6">
            <a:extLst>
              <a:ext uri="{FF2B5EF4-FFF2-40B4-BE49-F238E27FC236}">
                <a16:creationId xmlns:a16="http://schemas.microsoft.com/office/drawing/2014/main" id="{151DECB3-C42F-4E5C-8FB7-E1BF6F6B232A}"/>
              </a:ext>
            </a:extLst>
          </p:cNvPr>
          <p:cNvCxnSpPr>
            <a:cxnSpLocks/>
          </p:cNvCxnSpPr>
          <p:nvPr userDrawn="1"/>
        </p:nvCxnSpPr>
        <p:spPr>
          <a:xfrm>
            <a:off x="-7815" y="3468075"/>
            <a:ext cx="12199814" cy="0"/>
          </a:xfrm>
          <a:prstGeom prst="line">
            <a:avLst/>
          </a:prstGeom>
          <a:noFill/>
          <a:ln w="101600" cap="flat" cmpd="sng" algn="ctr">
            <a:gradFill flip="none" rotWithShape="1">
              <a:gsLst>
                <a:gs pos="92000">
                  <a:sysClr val="window" lastClr="FFFFFF"/>
                </a:gs>
                <a:gs pos="8000">
                  <a:sysClr val="window" lastClr="FFFFFF"/>
                </a:gs>
                <a:gs pos="0">
                  <a:sysClr val="window" lastClr="FFFFFF"/>
                </a:gs>
                <a:gs pos="32000">
                  <a:srgbClr val="FF9600"/>
                </a:gs>
                <a:gs pos="68000">
                  <a:srgbClr val="FF9600"/>
                </a:gs>
                <a:gs pos="100000">
                  <a:sysClr val="window" lastClr="FFFF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pic>
        <p:nvPicPr>
          <p:cNvPr id="48" name="Picture 3" descr="C:\Users\WanDuo\Desktop\XMU\XMU Template\header-logo-white2.png">
            <a:extLst>
              <a:ext uri="{FF2B5EF4-FFF2-40B4-BE49-F238E27FC236}">
                <a16:creationId xmlns:a16="http://schemas.microsoft.com/office/drawing/2014/main" id="{E58C3015-44D2-4E01-AA45-26B2267455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136525"/>
            <a:ext cx="914400" cy="9144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20725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F9D8A-9DC0-4D69-8518-70DAC50E02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33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3C663-9117-46D0-9789-D5619FE2B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9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3B85D-2992-4DFB-83D6-51CB1C834B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66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D6E0C-F80F-49F4-8C8C-7F9E6D0ECD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27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330E0-7745-4ED6-8FBB-23F99CC5CA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56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FB96D-3462-4B06-A9CA-C60B793F2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38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E4DCF-1570-460A-A8CA-8C8649290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33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6D502-E51D-45FE-B1DA-4830384FD9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8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CEB86-CDF0-4D24-8D89-440C53158E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79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B6234-A516-440E-9EA5-DA6DCE3BF4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459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D3A477-4245-436A-BDC8-541F3051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73E56E-EE5C-4345-A4E6-3B3E3A67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6FCE9C-1130-4894-89BA-E247B523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3955B6-121D-4605-991E-437CBD3DEA0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937EFCED-5B9A-4DEC-8E9F-7EAE56A1B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9">
            <a:extLst>
              <a:ext uri="{FF2B5EF4-FFF2-40B4-BE49-F238E27FC236}">
                <a16:creationId xmlns:a16="http://schemas.microsoft.com/office/drawing/2014/main" id="{16DF99B7-95CC-4306-86CE-4F52947CCA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64553"/>
            <a:ext cx="12192000" cy="149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5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8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4624"/>
            <a:ext cx="10972800" cy="1139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1288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647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89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9124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90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8647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fld id="{B43955B6-121D-4605-991E-437CBD3DEA0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81291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760"/>
            <a:ext cx="10972800" cy="49685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5" name="图片 13">
            <a:extLst>
              <a:ext uri="{FF2B5EF4-FFF2-40B4-BE49-F238E27FC236}">
                <a16:creationId xmlns:a16="http://schemas.microsoft.com/office/drawing/2014/main" id="{F3438BDC-F5AD-4C97-893C-1CAAF71C28C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00" y="218536"/>
            <a:ext cx="792000" cy="792000"/>
          </a:xfrm>
          <a:prstGeom prst="rect">
            <a:avLst/>
          </a:prstGeom>
          <a:ln>
            <a:noFill/>
          </a:ln>
          <a:effectLst/>
        </p:spPr>
      </p:pic>
      <p:cxnSp>
        <p:nvCxnSpPr>
          <p:cNvPr id="47" name="直接连接符 6">
            <a:extLst>
              <a:ext uri="{FF2B5EF4-FFF2-40B4-BE49-F238E27FC236}">
                <a16:creationId xmlns:a16="http://schemas.microsoft.com/office/drawing/2014/main" id="{2031E25E-96C6-43B2-8307-4F5C0AFE7FBA}"/>
              </a:ext>
            </a:extLst>
          </p:cNvPr>
          <p:cNvCxnSpPr>
            <a:cxnSpLocks/>
          </p:cNvCxnSpPr>
          <p:nvPr userDrawn="1"/>
        </p:nvCxnSpPr>
        <p:spPr>
          <a:xfrm>
            <a:off x="0" y="1196752"/>
            <a:ext cx="12192000" cy="0"/>
          </a:xfrm>
          <a:prstGeom prst="line">
            <a:avLst/>
          </a:prstGeom>
          <a:noFill/>
          <a:ln w="57150" cap="flat" cmpd="sng" algn="ctr">
            <a:gradFill flip="none" rotWithShape="1">
              <a:gsLst>
                <a:gs pos="92000">
                  <a:sysClr val="window" lastClr="FFFFFF"/>
                </a:gs>
                <a:gs pos="8000">
                  <a:sysClr val="window" lastClr="FFFFFF"/>
                </a:gs>
                <a:gs pos="0">
                  <a:sysClr val="window" lastClr="FFFFFF"/>
                </a:gs>
                <a:gs pos="32000">
                  <a:srgbClr val="FF9600"/>
                </a:gs>
                <a:gs pos="68000">
                  <a:srgbClr val="FF9600"/>
                </a:gs>
                <a:gs pos="100000">
                  <a:sysClr val="window" lastClr="FFFF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40DF892-7351-42A4-892F-DC62C6FEA08F}"/>
              </a:ext>
            </a:extLst>
          </p:cNvPr>
          <p:cNvCxnSpPr>
            <a:cxnSpLocks/>
          </p:cNvCxnSpPr>
          <p:nvPr userDrawn="1"/>
        </p:nvCxnSpPr>
        <p:spPr>
          <a:xfrm>
            <a:off x="-914" y="6361112"/>
            <a:ext cx="12192914" cy="0"/>
          </a:xfrm>
          <a:prstGeom prst="line">
            <a:avLst/>
          </a:prstGeom>
          <a:noFill/>
          <a:ln w="38100" cap="flat" cmpd="sng" algn="ctr">
            <a:gradFill flip="none" rotWithShape="1">
              <a:gsLst>
                <a:gs pos="92000">
                  <a:sysClr val="window" lastClr="FFFFFF"/>
                </a:gs>
                <a:gs pos="8000">
                  <a:sysClr val="window" lastClr="FFFFFF"/>
                </a:gs>
                <a:gs pos="0">
                  <a:sysClr val="window" lastClr="FFFFFF"/>
                </a:gs>
                <a:gs pos="32000">
                  <a:srgbClr val="0A3F76"/>
                </a:gs>
                <a:gs pos="68000">
                  <a:srgbClr val="0A3F76"/>
                </a:gs>
                <a:gs pos="100000">
                  <a:sysClr val="window" lastClr="FFFF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86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  <p:sldLayoutId id="214748408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A3F76"/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A3F76"/>
        </a:buClr>
        <a:buSzPct val="60000"/>
        <a:buFont typeface="Wingdings" pitchFamily="2" charset="2"/>
        <a:buChar char="n"/>
        <a:defRPr sz="3200">
          <a:solidFill>
            <a:schemeClr val="accent4">
              <a:lumMod val="10000"/>
            </a:schemeClr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40000" indent="-285750" algn="l" rtl="0" eaLnBrk="0" fontAlgn="base" hangingPunct="0">
        <a:spcBef>
          <a:spcPct val="20000"/>
        </a:spcBef>
        <a:spcAft>
          <a:spcPct val="0"/>
        </a:spcAft>
        <a:buClr>
          <a:schemeClr val="bg2">
            <a:lumMod val="60000"/>
            <a:lumOff val="40000"/>
          </a:schemeClr>
        </a:buClr>
        <a:buChar char="•"/>
        <a:defRPr sz="2800">
          <a:solidFill>
            <a:schemeClr val="accent4">
              <a:lumMod val="10000"/>
            </a:schemeClr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</a:defRPr>
      </a:lvl2pPr>
      <a:lvl3pPr marL="720000" indent="-228600" algn="l" rtl="0" eaLnBrk="0" fontAlgn="base" hangingPunct="0">
        <a:spcBef>
          <a:spcPct val="20000"/>
        </a:spcBef>
        <a:spcAft>
          <a:spcPct val="0"/>
        </a:spcAft>
        <a:buClr>
          <a:schemeClr val="bg2">
            <a:lumMod val="40000"/>
            <a:lumOff val="60000"/>
          </a:schemeClr>
        </a:buClr>
        <a:buSzPct val="60000"/>
        <a:buFont typeface="Wingdings" pitchFamily="2" charset="2"/>
        <a:buChar char="n"/>
        <a:defRPr sz="2400">
          <a:solidFill>
            <a:schemeClr val="accent4">
              <a:lumMod val="10000"/>
            </a:schemeClr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</a:defRPr>
      </a:lvl3pPr>
      <a:lvl4pPr marL="900000" indent="-228600" algn="l" rtl="0" eaLnBrk="0" fontAlgn="base" hangingPunct="0">
        <a:spcBef>
          <a:spcPct val="20000"/>
        </a:spcBef>
        <a:spcAft>
          <a:spcPct val="0"/>
        </a:spcAft>
        <a:buClr>
          <a:schemeClr val="bg2">
            <a:lumMod val="40000"/>
            <a:lumOff val="60000"/>
          </a:schemeClr>
        </a:buClr>
        <a:buChar char="•"/>
        <a:defRPr sz="2000">
          <a:solidFill>
            <a:schemeClr val="accent4">
              <a:lumMod val="10000"/>
            </a:schemeClr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</a:defRPr>
      </a:lvl4pPr>
      <a:lvl5pPr marL="1080000" indent="-228600" algn="l" rtl="0" eaLnBrk="0" fontAlgn="base" hangingPunct="0">
        <a:spcBef>
          <a:spcPct val="20000"/>
        </a:spcBef>
        <a:spcAft>
          <a:spcPct val="0"/>
        </a:spcAft>
        <a:buClr>
          <a:schemeClr val="bg2">
            <a:lumMod val="40000"/>
            <a:lumOff val="60000"/>
          </a:schemeClr>
        </a:buClr>
        <a:buSzPct val="60000"/>
        <a:buFont typeface="Wingdings" pitchFamily="2" charset="2"/>
        <a:buChar char="n"/>
        <a:defRPr sz="2000">
          <a:solidFill>
            <a:schemeClr val="accent4">
              <a:lumMod val="10000"/>
            </a:schemeClr>
          </a:solidFill>
          <a:effectLst>
            <a:outerShdw blurRad="38100" dist="38100" dir="2700000" algn="tl">
              <a:srgbClr val="000000"/>
            </a:outerShdw>
          </a:effectLst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28800"/>
            <a:ext cx="10363200" cy="1736725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1</a:t>
            </a:r>
            <a:r>
              <a:rPr lang="zh-CN" altLang="en-US" sz="4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en-US" altLang="zh-CN" sz="4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CT Image Reconstruction</a:t>
            </a:r>
            <a:endParaRPr lang="zh-CN" altLang="en-US" sz="44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573016"/>
            <a:ext cx="8534400" cy="2232248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Theory and Algorithm</a:t>
            </a:r>
          </a:p>
          <a:p>
            <a:pPr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2026</a:t>
            </a:r>
            <a:endParaRPr lang="zh-CN" altLang="zh-CN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4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3AD4-ACAD-5A31-59E3-92C895B0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420BD5A3-2966-B97E-A1B5-466169325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CCFB953C-4C1D-6535-2B9A-6131093F4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CT:</a:t>
            </a:r>
            <a:r>
              <a:rPr lang="zh-CN" alt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zh-CN" alt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Tomography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medical imaging technique used to obtain detailed internal images of the body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E6FD1C-8D86-37CA-B6B8-33FBDE86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24E139-D439-77CF-1BB7-D7AB0897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88" y="2538583"/>
            <a:ext cx="4868152" cy="3471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97B562-D0A8-7E1F-3EF6-831FDA87D26A}"/>
              </a:ext>
            </a:extLst>
          </p:cNvPr>
          <p:cNvSpPr txBox="1"/>
          <p:nvPr/>
        </p:nvSpPr>
        <p:spPr bwMode="auto">
          <a:xfrm>
            <a:off x="5436747" y="5909210"/>
            <a:ext cx="611403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Computed tomography of human brain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B4BA8-8675-2A1B-E59F-336F73F27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625" y="2924944"/>
            <a:ext cx="3096344" cy="3037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7CF0DA-51FC-A72C-67B5-A1560D76CFF0}"/>
              </a:ext>
            </a:extLst>
          </p:cNvPr>
          <p:cNvSpPr txBox="1"/>
          <p:nvPr/>
        </p:nvSpPr>
        <p:spPr bwMode="auto">
          <a:xfrm>
            <a:off x="1844775" y="5909210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Modern CT scanner</a:t>
            </a:r>
          </a:p>
        </p:txBody>
      </p:sp>
    </p:spTree>
    <p:extLst>
      <p:ext uri="{BB962C8B-B14F-4D97-AF65-F5344CB8AC3E}">
        <p14:creationId xmlns:p14="http://schemas.microsoft.com/office/powerpoint/2010/main" val="111331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14809-346A-40C2-FBCE-00A9861F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74EDAB6E-C153-7E42-16E1-CB8F3EF0E0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D58E94FB-7781-868F-968D-3E97A05D1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 Reconstruction 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classical inverse problem (projection data to image)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Basically, CT image is reconstructed by solving a linear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3EAA73-8F85-E262-91EA-E083B652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2593F-E3CA-6323-2545-A29AC0843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700" y="2924944"/>
            <a:ext cx="5254600" cy="2955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B17E7E-E780-16D9-D582-1C9B557E5B7A}"/>
              </a:ext>
            </a:extLst>
          </p:cNvPr>
          <p:cNvSpPr txBox="1"/>
          <p:nvPr/>
        </p:nvSpPr>
        <p:spPr bwMode="auto">
          <a:xfrm>
            <a:off x="3258735" y="5981218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Multi-angle scanning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7C80D-36AE-FAD4-2606-AB195D840924}"/>
              </a:ext>
            </a:extLst>
          </p:cNvPr>
          <p:cNvSpPr txBox="1"/>
          <p:nvPr/>
        </p:nvSpPr>
        <p:spPr bwMode="auto">
          <a:xfrm>
            <a:off x="5807968" y="5981218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Projection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526D2-299E-CEAD-8BB1-A8B89F252F45}"/>
              </a:ext>
            </a:extLst>
          </p:cNvPr>
          <p:cNvSpPr txBox="1"/>
          <p:nvPr/>
        </p:nvSpPr>
        <p:spPr bwMode="auto">
          <a:xfrm>
            <a:off x="8773164" y="5461354"/>
            <a:ext cx="315548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*(This is </a:t>
            </a:r>
            <a:r>
              <a:rPr lang="en-US" sz="2000" u="sng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Radon transform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E0C30-5D9C-0C2B-B6C3-09DD194257F5}"/>
              </a:ext>
            </a:extLst>
          </p:cNvPr>
          <p:cNvSpPr txBox="1"/>
          <p:nvPr/>
        </p:nvSpPr>
        <p:spPr bwMode="auto">
          <a:xfrm>
            <a:off x="5919120" y="5494967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2EE2A-E4F2-3DB2-30B1-26DE9160F1DE}"/>
              </a:ext>
            </a:extLst>
          </p:cNvPr>
          <p:cNvSpPr txBox="1"/>
          <p:nvPr/>
        </p:nvSpPr>
        <p:spPr bwMode="auto">
          <a:xfrm rot="16200000">
            <a:off x="5395955" y="4452721"/>
            <a:ext cx="122413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Scan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A0B7F5-D3CA-DB08-D8CE-372D4162AF06}"/>
              </a:ext>
            </a:extLst>
          </p:cNvPr>
          <p:cNvCxnSpPr/>
          <p:nvPr/>
        </p:nvCxnSpPr>
        <p:spPr bwMode="auto">
          <a:xfrm flipH="1">
            <a:off x="1055440" y="3789040"/>
            <a:ext cx="936104" cy="1296144"/>
          </a:xfrm>
          <a:prstGeom prst="lin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4C9480-014A-C449-0768-49FEB9F67592}"/>
              </a:ext>
            </a:extLst>
          </p:cNvPr>
          <p:cNvCxnSpPr/>
          <p:nvPr/>
        </p:nvCxnSpPr>
        <p:spPr bwMode="auto">
          <a:xfrm flipH="1">
            <a:off x="1055440" y="5087314"/>
            <a:ext cx="936104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E2550CB-89FB-0D7F-8CDD-0EA49BB7DE25}"/>
              </a:ext>
            </a:extLst>
          </p:cNvPr>
          <p:cNvSpPr txBox="1"/>
          <p:nvPr/>
        </p:nvSpPr>
        <p:spPr bwMode="auto">
          <a:xfrm>
            <a:off x="454710" y="4035643"/>
            <a:ext cx="123031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can line</a:t>
            </a:r>
            <a:endParaRPr lang="en-US" sz="2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E488A-1259-F517-0FAB-2A21540BC9E0}"/>
              </a:ext>
            </a:extLst>
          </p:cNvPr>
          <p:cNvSpPr txBox="1"/>
          <p:nvPr/>
        </p:nvSpPr>
        <p:spPr bwMode="auto">
          <a:xfrm>
            <a:off x="1199456" y="4587798"/>
            <a:ext cx="123031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Angle </a:t>
            </a:r>
          </a:p>
        </p:txBody>
      </p:sp>
    </p:spTree>
    <p:extLst>
      <p:ext uri="{BB962C8B-B14F-4D97-AF65-F5344CB8AC3E}">
        <p14:creationId xmlns:p14="http://schemas.microsoft.com/office/powerpoint/2010/main" val="244517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D6A2-4F9A-27BB-B8F0-542A09B4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7AD6F0C3-3F36-1CB7-EA25-275BD3987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BBA44B7E-D95A-A1CC-8AB3-442DA983A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Projection data to image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4D2E3E-DED9-91F5-A638-E37AED9F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9669D-DE71-6A91-91D1-21F30DCC7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138737"/>
            <a:ext cx="2743200" cy="31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7D41A2-1418-711A-A8A8-CABCD32372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081" r="28849" b="80587"/>
          <a:stretch/>
        </p:blipFill>
        <p:spPr>
          <a:xfrm>
            <a:off x="7529264" y="2415266"/>
            <a:ext cx="2671192" cy="2628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5E0069-0A99-AC82-151C-78BEDF182C15}"/>
              </a:ext>
            </a:extLst>
          </p:cNvPr>
          <p:cNvSpPr txBox="1"/>
          <p:nvPr/>
        </p:nvSpPr>
        <p:spPr bwMode="auto">
          <a:xfrm>
            <a:off x="1936122" y="5402838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Projection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CD190-BD27-E964-F04B-1E961CE1BB2F}"/>
              </a:ext>
            </a:extLst>
          </p:cNvPr>
          <p:cNvSpPr txBox="1"/>
          <p:nvPr/>
        </p:nvSpPr>
        <p:spPr bwMode="auto">
          <a:xfrm>
            <a:off x="7437838" y="5402838"/>
            <a:ext cx="285404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Image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CA691CC-C604-FEF0-A78F-C7BE6CC63D7E}"/>
              </a:ext>
            </a:extLst>
          </p:cNvPr>
          <p:cNvSpPr/>
          <p:nvPr/>
        </p:nvSpPr>
        <p:spPr bwMode="auto">
          <a:xfrm>
            <a:off x="5375920" y="3397468"/>
            <a:ext cx="1684676" cy="663888"/>
          </a:xfrm>
          <a:prstGeom prst="rightArrow">
            <a:avLst>
              <a:gd name="adj1" fmla="val 42140"/>
              <a:gd name="adj2" fmla="val 88950"/>
            </a:avLst>
          </a:prstGeom>
          <a:solidFill>
            <a:srgbClr val="0A3F76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F8D5B-3A5C-C547-3DB5-5D2621578CCF}"/>
              </a:ext>
            </a:extLst>
          </p:cNvPr>
          <p:cNvSpPr txBox="1"/>
          <p:nvPr/>
        </p:nvSpPr>
        <p:spPr bwMode="auto">
          <a:xfrm>
            <a:off x="4943872" y="2659559"/>
            <a:ext cx="2854044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</a:t>
            </a:r>
            <a:r>
              <a:rPr lang="zh-CN" altLang="en-US" sz="4400" b="1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？</a:t>
            </a:r>
            <a:endParaRPr lang="en-US" sz="4400" b="1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0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C575-6F8B-0FE4-DEB0-EC5C30B7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CD4280E7-1F0C-D71C-B62D-37C5E9106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A279A5BF-95C2-26F9-8514-9D53189F0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linear system: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7D657E-66A5-736E-D064-90A838B7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7C7D4-64BD-19CF-A347-515EBC32A87B}"/>
              </a:ext>
            </a:extLst>
          </p:cNvPr>
          <p:cNvSpPr txBox="1"/>
          <p:nvPr/>
        </p:nvSpPr>
        <p:spPr bwMode="auto">
          <a:xfrm>
            <a:off x="5083298" y="1156147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8A003-4AA0-673C-CECE-7DC66FD4795B}"/>
              </a:ext>
            </a:extLst>
          </p:cNvPr>
          <p:cNvSpPr/>
          <p:nvPr/>
        </p:nvSpPr>
        <p:spPr bwMode="auto">
          <a:xfrm>
            <a:off x="3719736" y="2176635"/>
            <a:ext cx="1507574" cy="214793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2AEC98-4AED-591B-7BA9-5A235ADE29CA}"/>
              </a:ext>
            </a:extLst>
          </p:cNvPr>
          <p:cNvCxnSpPr/>
          <p:nvPr/>
        </p:nvCxnSpPr>
        <p:spPr bwMode="auto">
          <a:xfrm>
            <a:off x="5735960" y="2176635"/>
            <a:ext cx="0" cy="1508400"/>
          </a:xfrm>
          <a:prstGeom prst="line">
            <a:avLst/>
          </a:prstGeom>
          <a:noFill/>
          <a:ln w="76200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1CB4ECC-C6C2-EC4A-2616-B38947B34CD3}"/>
              </a:ext>
            </a:extLst>
          </p:cNvPr>
          <p:cNvSpPr txBox="1"/>
          <p:nvPr/>
        </p:nvSpPr>
        <p:spPr bwMode="auto">
          <a:xfrm>
            <a:off x="5476069" y="4521894"/>
            <a:ext cx="519782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B134D2-B83E-4546-B74E-A88B7BCA634E}"/>
              </a:ext>
            </a:extLst>
          </p:cNvPr>
          <p:cNvSpPr txBox="1"/>
          <p:nvPr/>
        </p:nvSpPr>
        <p:spPr bwMode="auto">
          <a:xfrm>
            <a:off x="5879976" y="2505670"/>
            <a:ext cx="767555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F024EC-20C6-1DDC-BB71-D98C83B406E1}"/>
              </a:ext>
            </a:extLst>
          </p:cNvPr>
          <p:cNvCxnSpPr/>
          <p:nvPr/>
        </p:nvCxnSpPr>
        <p:spPr bwMode="auto">
          <a:xfrm>
            <a:off x="6744072" y="2176635"/>
            <a:ext cx="0" cy="2149200"/>
          </a:xfrm>
          <a:prstGeom prst="line">
            <a:avLst/>
          </a:prstGeom>
          <a:noFill/>
          <a:ln w="76200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E445251-4DD9-ABF1-469C-4AE6CC3A449E}"/>
              </a:ext>
            </a:extLst>
          </p:cNvPr>
          <p:cNvSpPr txBox="1"/>
          <p:nvPr/>
        </p:nvSpPr>
        <p:spPr bwMode="auto">
          <a:xfrm>
            <a:off x="6396298" y="4521894"/>
            <a:ext cx="695548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494478-2887-9EBC-C2CC-0E3B74ABA456}"/>
              </a:ext>
            </a:extLst>
          </p:cNvPr>
          <p:cNvSpPr txBox="1"/>
          <p:nvPr/>
        </p:nvSpPr>
        <p:spPr bwMode="auto">
          <a:xfrm>
            <a:off x="5083298" y="2358743"/>
            <a:ext cx="767555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193A08-BBE4-368A-7BCF-CB3BE677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265" y="1682923"/>
            <a:ext cx="1165485" cy="13516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FCF7CE6-0907-E8BA-0B09-89826C4E6273}"/>
              </a:ext>
            </a:extLst>
          </p:cNvPr>
          <p:cNvSpPr txBox="1"/>
          <p:nvPr/>
        </p:nvSpPr>
        <p:spPr bwMode="auto">
          <a:xfrm>
            <a:off x="9321797" y="3008810"/>
            <a:ext cx="875382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45B2E-077A-1FB2-6971-0D2AA7D62B09}"/>
              </a:ext>
            </a:extLst>
          </p:cNvPr>
          <p:cNvSpPr txBox="1"/>
          <p:nvPr/>
        </p:nvSpPr>
        <p:spPr bwMode="auto">
          <a:xfrm>
            <a:off x="8478091" y="2151784"/>
            <a:ext cx="875382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998FE-4D73-0F5F-45B2-F07E231E2326}"/>
              </a:ext>
            </a:extLst>
          </p:cNvPr>
          <p:cNvSpPr txBox="1"/>
          <p:nvPr/>
        </p:nvSpPr>
        <p:spPr bwMode="auto">
          <a:xfrm>
            <a:off x="6396298" y="4273542"/>
            <a:ext cx="129614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3BE60D-6D78-26C7-B23A-092155B544A8}"/>
              </a:ext>
            </a:extLst>
          </p:cNvPr>
          <p:cNvCxnSpPr/>
          <p:nvPr/>
        </p:nvCxnSpPr>
        <p:spPr bwMode="auto">
          <a:xfrm flipH="1">
            <a:off x="6858964" y="2769940"/>
            <a:ext cx="1942646" cy="587052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FE83C3A-1B99-86F1-37FE-663E77053E2A}"/>
              </a:ext>
            </a:extLst>
          </p:cNvPr>
          <p:cNvSpPr txBox="1"/>
          <p:nvPr/>
        </p:nvSpPr>
        <p:spPr bwMode="auto">
          <a:xfrm>
            <a:off x="7279122" y="3105955"/>
            <a:ext cx="1711606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Column-wise</a:t>
            </a:r>
          </a:p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Vectorization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9BE4588-F17E-7FA4-5269-EF3CEA12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081" r="28849" b="80587"/>
          <a:stretch/>
        </p:blipFill>
        <p:spPr>
          <a:xfrm>
            <a:off x="1703512" y="4649871"/>
            <a:ext cx="1373701" cy="135163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E0B177E-3788-59FA-C2FB-7D146FA42277}"/>
              </a:ext>
            </a:extLst>
          </p:cNvPr>
          <p:cNvSpPr txBox="1"/>
          <p:nvPr/>
        </p:nvSpPr>
        <p:spPr bwMode="auto">
          <a:xfrm>
            <a:off x="1952671" y="5925921"/>
            <a:ext cx="875382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FF3F8D-BCD7-3034-6466-325F97466656}"/>
              </a:ext>
            </a:extLst>
          </p:cNvPr>
          <p:cNvSpPr txBox="1"/>
          <p:nvPr/>
        </p:nvSpPr>
        <p:spPr bwMode="auto">
          <a:xfrm>
            <a:off x="1057545" y="5125635"/>
            <a:ext cx="875382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7D64C4-33C9-106E-55ED-4839E4D67612}"/>
              </a:ext>
            </a:extLst>
          </p:cNvPr>
          <p:cNvSpPr txBox="1"/>
          <p:nvPr/>
        </p:nvSpPr>
        <p:spPr bwMode="auto">
          <a:xfrm>
            <a:off x="5411615" y="3603268"/>
            <a:ext cx="129614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6A8115-2150-65F5-266E-8B6A1E28A307}"/>
              </a:ext>
            </a:extLst>
          </p:cNvPr>
          <p:cNvCxnSpPr/>
          <p:nvPr/>
        </p:nvCxnSpPr>
        <p:spPr bwMode="auto">
          <a:xfrm flipV="1">
            <a:off x="3197265" y="5074295"/>
            <a:ext cx="2280826" cy="370929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182678-EF1B-4932-0C2E-ED5ABB2CE106}"/>
              </a:ext>
            </a:extLst>
          </p:cNvPr>
          <p:cNvSpPr txBox="1"/>
          <p:nvPr/>
        </p:nvSpPr>
        <p:spPr bwMode="auto">
          <a:xfrm>
            <a:off x="3515303" y="5327102"/>
            <a:ext cx="1711606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Column-wise</a:t>
            </a:r>
          </a:p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Vectorization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E41B95-EB3F-2936-2006-8ADA288F588A}"/>
              </a:ext>
            </a:extLst>
          </p:cNvPr>
          <p:cNvSpPr txBox="1"/>
          <p:nvPr/>
        </p:nvSpPr>
        <p:spPr bwMode="auto">
          <a:xfrm>
            <a:off x="1534559" y="4238944"/>
            <a:ext cx="171160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Unknown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8FCF-AB85-3125-363B-1F541CC4E232}"/>
              </a:ext>
            </a:extLst>
          </p:cNvPr>
          <p:cNvSpPr txBox="1"/>
          <p:nvPr/>
        </p:nvSpPr>
        <p:spPr bwMode="auto">
          <a:xfrm>
            <a:off x="3825451" y="4272653"/>
            <a:ext cx="129614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3BC04-A4E8-6D1E-3115-070A28766DED}"/>
              </a:ext>
            </a:extLst>
          </p:cNvPr>
          <p:cNvSpPr txBox="1"/>
          <p:nvPr/>
        </p:nvSpPr>
        <p:spPr bwMode="auto">
          <a:xfrm>
            <a:off x="2567609" y="2930835"/>
            <a:ext cx="129614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2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sz="20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93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3989-683C-54F0-1968-71D70D22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D3420A74-4F8F-66D3-2F25-5AD523892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7107BAE3-9908-B63C-D07A-06BAE814D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linear system:</a:t>
            </a:r>
          </a:p>
          <a:p>
            <a:pPr eaLnBrk="1" hangingPunct="1">
              <a:defRPr/>
            </a:pPr>
            <a:endParaRPr lang="en-US" altLang="zh-CN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Row-wise view: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BF7CF1-27E0-257C-27AF-5FFE6F26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0A90F-DD41-6D21-5DDD-DDBACAD2472F}"/>
              </a:ext>
            </a:extLst>
          </p:cNvPr>
          <p:cNvSpPr txBox="1"/>
          <p:nvPr/>
        </p:nvSpPr>
        <p:spPr bwMode="auto">
          <a:xfrm>
            <a:off x="5083298" y="1156147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EE567-C8C7-6E5D-8A21-1A24448C02B4}"/>
              </a:ext>
            </a:extLst>
          </p:cNvPr>
          <p:cNvSpPr txBox="1"/>
          <p:nvPr/>
        </p:nvSpPr>
        <p:spPr bwMode="auto">
          <a:xfrm>
            <a:off x="4439816" y="2525118"/>
            <a:ext cx="2098651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138EB-B6E0-95D6-F832-72301D589CDC}"/>
              </a:ext>
            </a:extLst>
          </p:cNvPr>
          <p:cNvSpPr txBox="1"/>
          <p:nvPr/>
        </p:nvSpPr>
        <p:spPr bwMode="auto">
          <a:xfrm>
            <a:off x="2135560" y="3254295"/>
            <a:ext cx="9361040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sz="40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400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400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+(j-1)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400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kumimoji="0" lang="en-US" sz="400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kumimoji="0" lang="en-US" sz="4000" b="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400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 of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b:</a:t>
            </a: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en-US" sz="400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400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+(j-1)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400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kumimoji="0" lang="en-US" sz="4000" i="1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kumimoji="0" lang="en-US" sz="400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kumimoji="0" lang="en-US" sz="4000" b="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400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of b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40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7DCF2-CCA5-AA3F-2AE6-4E00A908A205}"/>
              </a:ext>
            </a:extLst>
          </p:cNvPr>
          <p:cNvSpPr txBox="1"/>
          <p:nvPr/>
        </p:nvSpPr>
        <p:spPr bwMode="auto">
          <a:xfrm>
            <a:off x="2412268" y="4580987"/>
            <a:ext cx="8976320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i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[1, …, </a:t>
            </a:r>
            <a:r>
              <a:rPr kumimoji="0" lang="en-US" sz="3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32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is the </a:t>
            </a:r>
            <a:r>
              <a:rPr kumimoji="0" lang="en-US" sz="3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3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scan line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[1, …,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is the </a:t>
            </a:r>
            <a:r>
              <a:rPr lang="en-US" sz="3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3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projection angle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2767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9420-0DD9-4DAC-B35B-E1AFC740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5E469BDE-1F3F-97D9-59BF-B1C3A5D0E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3AA684C7-632F-1700-0425-37AF896AC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current problem: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defTabSz="914400" eaLnBrk="1" latinLnBrk="0" hangingPunct="1">
              <a:lnSpc>
                <a:spcPct val="90000"/>
              </a:lnSpc>
              <a:tabLst/>
              <a:defRPr/>
            </a:pPr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an </a:t>
            </a:r>
            <a:r>
              <a:rPr lang="en-US" altLang="zh-CN" sz="3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overdetermined</a:t>
            </a: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linear system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B350B0-BF06-CC28-89B6-07004D89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DCE30-A884-50C3-F043-CA715CB11520}"/>
              </a:ext>
            </a:extLst>
          </p:cNvPr>
          <p:cNvSpPr txBox="1"/>
          <p:nvPr/>
        </p:nvSpPr>
        <p:spPr bwMode="auto">
          <a:xfrm>
            <a:off x="3071664" y="2060848"/>
            <a:ext cx="5472608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(N</a:t>
            </a:r>
            <a:r>
              <a:rPr lang="en-US" sz="36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36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36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</a:t>
            </a:r>
            <a:r>
              <a:rPr lang="en-US" sz="36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)   &gt;   (</a:t>
            </a:r>
            <a:r>
              <a:rPr lang="en-US" sz="36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36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</a:t>
            </a:r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36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</a:t>
            </a:r>
            <a:r>
              <a:rPr lang="en-US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  <a:r>
              <a:rPr lang="en-US" altLang="zh-CN" sz="36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sz="3600" baseline="-25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8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A7DA-32B4-DA17-8917-D7DCFABF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3FFA422D-CB34-0EEA-013A-77446C2A3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</a:t>
            </a:r>
            <a:r>
              <a:rPr lang="zh-CN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zh-CN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47A9E99C-F1F1-98F4-96F3-A0584CE06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Least-square Reconstruction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7F1174-5E91-1AB2-6599-3102E921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B47C8-7240-F94C-2EB1-1B282C1662C0}"/>
              </a:ext>
            </a:extLst>
          </p:cNvPr>
          <p:cNvSpPr txBox="1"/>
          <p:nvPr/>
        </p:nvSpPr>
        <p:spPr bwMode="auto">
          <a:xfrm>
            <a:off x="5083298" y="1988840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CFFF2-B02F-C28B-9B5A-CBC89D9533D2}"/>
              </a:ext>
            </a:extLst>
          </p:cNvPr>
          <p:cNvSpPr txBox="1"/>
          <p:nvPr/>
        </p:nvSpPr>
        <p:spPr bwMode="auto">
          <a:xfrm>
            <a:off x="4041346" y="3020818"/>
            <a:ext cx="4036681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5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CDB8AB-DBC9-6DED-7932-0D1C4D57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112" y="4491739"/>
            <a:ext cx="10441776" cy="13574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3F76"/>
              </a:buClr>
              <a:buSzPct val="60000"/>
              <a:buFont typeface="Wingdings" pitchFamily="2" charset="2"/>
              <a:buChar char="n"/>
              <a:defRPr sz="320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00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60000"/>
                  <a:lumOff val="40000"/>
                </a:schemeClr>
              </a:buClr>
              <a:buChar char="•"/>
              <a:defRPr sz="280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72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40000"/>
                  <a:lumOff val="60000"/>
                </a:schemeClr>
              </a:buClr>
              <a:buSzPct val="60000"/>
              <a:buFont typeface="Wingdings" pitchFamily="2" charset="2"/>
              <a:buChar char="n"/>
              <a:defRPr sz="240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90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40000"/>
                  <a:lumOff val="60000"/>
                </a:schemeClr>
              </a:buClr>
              <a:buChar char="•"/>
              <a:defRPr sz="200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40000"/>
                  <a:lumOff val="60000"/>
                </a:schemeClr>
              </a:buClr>
              <a:buSzPct val="60000"/>
              <a:buFont typeface="Wingdings" pitchFamily="2" charset="2"/>
              <a:buChar char="n"/>
              <a:defRPr sz="200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36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altLang="zh-CN" sz="36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3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contaminated by noise in real world.</a:t>
            </a:r>
            <a:r>
              <a:rPr lang="en-US" altLang="zh-CN" sz="36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1" hangingPunct="1">
              <a:defRPr/>
            </a:pPr>
            <a:r>
              <a:rPr lang="en-US" altLang="zh-CN" kern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Electrical noise, thermal noise, eta.</a:t>
            </a:r>
          </a:p>
          <a:p>
            <a:pPr lvl="1" eaLnBrk="1" hangingPunct="1">
              <a:defRPr/>
            </a:pPr>
            <a:endParaRPr lang="en-US" altLang="zh-CN" kern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74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67C4-D271-2378-38FC-7F8C5CA5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2325F822-6338-D3F2-27C7-5639F8CE6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LS 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53F8A82E-1683-5882-0863-1317A648B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3FB52D-B583-70B9-358A-EC2115E8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E6D1B8-08E9-6070-1EAC-117D39C98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293758"/>
              </p:ext>
            </p:extLst>
          </p:nvPr>
        </p:nvGraphicFramePr>
        <p:xfrm>
          <a:off x="2032000" y="1916833"/>
          <a:ext cx="8128000" cy="1834112"/>
        </p:xfrm>
        <a:graphic>
          <a:graphicData uri="http://schemas.openxmlformats.org/drawingml/2006/table">
            <a:tbl>
              <a:tblPr firstRow="1" bandRow="1"/>
              <a:tblGrid>
                <a:gridCol w="8128000">
                  <a:extLst>
                    <a:ext uri="{9D8B030D-6E8A-4147-A177-3AD203B41FA5}">
                      <a16:colId xmlns:a16="http://schemas.microsoft.com/office/drawing/2014/main" val="3300824830"/>
                    </a:ext>
                  </a:extLst>
                </a:gridCol>
              </a:tblGrid>
              <a:tr h="27927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Algorithm: LS reconstruction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41879"/>
                  </a:ext>
                </a:extLst>
              </a:tr>
              <a:tr h="137691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Input: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(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US" sz="2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Return: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1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06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5046-29EC-9E5C-7D0C-EE7C297C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2778099B-CF8F-06E0-A019-CCACAF8C9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ART 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9BC1E5F7-2065-8101-730E-0C49ADFA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model of </a:t>
            </a:r>
            <a:r>
              <a:rPr lang="en-US" altLang="zh-CN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Algebraic Reconstruction Technique</a:t>
            </a: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DE9C4D-D181-7931-0D47-681DC889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564CC-71EF-A1AB-D5E0-BFF843BB7308}"/>
              </a:ext>
            </a:extLst>
          </p:cNvPr>
          <p:cNvSpPr txBox="1"/>
          <p:nvPr/>
        </p:nvSpPr>
        <p:spPr bwMode="auto">
          <a:xfrm>
            <a:off x="5119610" y="1687891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2FA45-2ECE-4BFD-1CED-D57D3A5062BB}"/>
              </a:ext>
            </a:extLst>
          </p:cNvPr>
          <p:cNvSpPr txBox="1"/>
          <p:nvPr/>
        </p:nvSpPr>
        <p:spPr bwMode="auto">
          <a:xfrm>
            <a:off x="1127448" y="2528121"/>
            <a:ext cx="10310936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sz="40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4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4000" baseline="-25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projects x into the </a:t>
            </a:r>
            <a:r>
              <a:rPr lang="en-US" sz="4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i-th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scan line of j-</a:t>
            </a:r>
            <a:r>
              <a:rPr lang="en-US" sz="4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angle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projection data is </a:t>
            </a:r>
            <a:r>
              <a:rPr lang="en-US" sz="40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4000" baseline="-25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i,j</a:t>
            </a:r>
            <a:endParaRPr lang="en-US" sz="4000" baseline="-25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CB315-B522-933C-2C5B-B2B66B1D6093}"/>
              </a:ext>
            </a:extLst>
          </p:cNvPr>
          <p:cNvSpPr txBox="1"/>
          <p:nvPr/>
        </p:nvSpPr>
        <p:spPr bwMode="auto">
          <a:xfrm>
            <a:off x="1127448" y="4231095"/>
            <a:ext cx="2098651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174FA-A140-13BF-0454-97A2D5B6078B}"/>
              </a:ext>
            </a:extLst>
          </p:cNvPr>
          <p:cNvSpPr txBox="1"/>
          <p:nvPr/>
        </p:nvSpPr>
        <p:spPr bwMode="auto">
          <a:xfrm>
            <a:off x="3323371" y="4297267"/>
            <a:ext cx="7741181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&lt;=&gt;    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Projecting </a:t>
            </a: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a hyperplane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8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432D-23FA-61F6-5973-B4E1D422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CF7CA75F-EA1D-0587-C1DA-C5CC2B154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ART 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AFE5D123-D2BB-1E58-1236-D4E60F996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8EE8C5-46B7-FE08-FD2B-10F32B79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EFF92-81FD-422D-B380-B1C60051013C}"/>
              </a:ext>
            </a:extLst>
          </p:cNvPr>
          <p:cNvSpPr txBox="1"/>
          <p:nvPr/>
        </p:nvSpPr>
        <p:spPr bwMode="auto">
          <a:xfrm>
            <a:off x="468373" y="2348880"/>
            <a:ext cx="2098651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9FEAB-DD2C-9757-9F22-6E031E447038}"/>
              </a:ext>
            </a:extLst>
          </p:cNvPr>
          <p:cNvSpPr txBox="1"/>
          <p:nvPr/>
        </p:nvSpPr>
        <p:spPr bwMode="auto">
          <a:xfrm>
            <a:off x="2664296" y="2415052"/>
            <a:ext cx="7741181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&lt;=&gt;    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Projecting </a:t>
            </a: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a hyperplane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134AB-7F14-5A9D-4A23-37E82DF86DBF}"/>
              </a:ext>
            </a:extLst>
          </p:cNvPr>
          <p:cNvSpPr txBox="1"/>
          <p:nvPr/>
        </p:nvSpPr>
        <p:spPr bwMode="auto">
          <a:xfrm>
            <a:off x="2027227" y="3467391"/>
            <a:ext cx="7741181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Projection point </a:t>
            </a: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* = </a:t>
            </a:r>
            <a:endParaRPr lang="en-US" dirty="0"/>
          </a:p>
        </p:txBody>
      </p:sp>
      <p:pic>
        <p:nvPicPr>
          <p:cNvPr id="6" name="Graphic 5" descr="Question mark with solid fill">
            <a:extLst>
              <a:ext uri="{FF2B5EF4-FFF2-40B4-BE49-F238E27FC236}">
                <a16:creationId xmlns:a16="http://schemas.microsoft.com/office/drawing/2014/main" id="{44735040-9789-6054-C514-AB4FECE32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412" y="329112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6C8E19-6408-986B-D24C-D5DDFAD5487B}"/>
              </a:ext>
            </a:extLst>
          </p:cNvPr>
          <p:cNvSpPr txBox="1"/>
          <p:nvPr/>
        </p:nvSpPr>
        <p:spPr bwMode="auto">
          <a:xfrm>
            <a:off x="541308" y="4453558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41588-42F7-F7B0-491A-93BB7437F45E}"/>
              </a:ext>
            </a:extLst>
          </p:cNvPr>
          <p:cNvSpPr txBox="1"/>
          <p:nvPr/>
        </p:nvSpPr>
        <p:spPr bwMode="auto">
          <a:xfrm>
            <a:off x="2664295" y="4483806"/>
            <a:ext cx="8976321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&lt;=&gt;    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Projecting </a:t>
            </a: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</a:t>
            </a:r>
            <a:r>
              <a:rPr lang="en-US" sz="4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4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  <a:r>
              <a:rPr lang="en-US" sz="4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4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× </a:t>
            </a:r>
            <a:r>
              <a:rPr lang="en-US" sz="4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</a:t>
            </a:r>
            <a:r>
              <a:rPr lang="en-US" sz="4000" baseline="-25000" dirty="0" err="1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</a:t>
            </a:r>
            <a:r>
              <a:rPr lang="en-US" sz="4000" baseline="-25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4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hyperplanes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61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0A2F-27C8-499E-9605-6B673050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202875F8-27DB-C24A-328F-71DF992AB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ART 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46D41A6A-8CEF-2BBF-7ED5-D689BCCC7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Geometric interpretation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6753E4-8BA0-21C8-B486-59853DB1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385F3-FAE5-01E6-E2FE-5A172C2EBE41}"/>
              </a:ext>
            </a:extLst>
          </p:cNvPr>
          <p:cNvSpPr txBox="1"/>
          <p:nvPr/>
        </p:nvSpPr>
        <p:spPr bwMode="auto">
          <a:xfrm>
            <a:off x="191344" y="2036386"/>
            <a:ext cx="1952779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25D057-1741-8247-587C-D07C97C5E12D}"/>
              </a:ext>
            </a:extLst>
          </p:cNvPr>
          <p:cNvCxnSpPr/>
          <p:nvPr/>
        </p:nvCxnSpPr>
        <p:spPr bwMode="auto">
          <a:xfrm>
            <a:off x="4151784" y="4005064"/>
            <a:ext cx="5184576" cy="0"/>
          </a:xfrm>
          <a:prstGeom prst="straightConnector1">
            <a:avLst/>
          </a:prstGeom>
          <a:noFill/>
          <a:ln w="3810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5676D8-4F02-337E-43F7-62E876715B45}"/>
              </a:ext>
            </a:extLst>
          </p:cNvPr>
          <p:cNvCxnSpPr/>
          <p:nvPr/>
        </p:nvCxnSpPr>
        <p:spPr bwMode="auto">
          <a:xfrm flipV="1">
            <a:off x="6608440" y="2036386"/>
            <a:ext cx="0" cy="3912894"/>
          </a:xfrm>
          <a:prstGeom prst="straightConnector1">
            <a:avLst/>
          </a:prstGeom>
          <a:noFill/>
          <a:ln w="3810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BBD21E-05BE-A99A-E4C8-70035904B36B}"/>
              </a:ext>
            </a:extLst>
          </p:cNvPr>
          <p:cNvCxnSpPr/>
          <p:nvPr/>
        </p:nvCxnSpPr>
        <p:spPr bwMode="auto">
          <a:xfrm flipV="1">
            <a:off x="4151784" y="1740818"/>
            <a:ext cx="6170560" cy="2483586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A39B8E-9B8B-7608-4DC3-2DB1DC4B5A37}"/>
              </a:ext>
            </a:extLst>
          </p:cNvPr>
          <p:cNvCxnSpPr/>
          <p:nvPr/>
        </p:nvCxnSpPr>
        <p:spPr bwMode="auto">
          <a:xfrm flipV="1">
            <a:off x="5837562" y="1658066"/>
            <a:ext cx="4267539" cy="4172043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4F3F41-8976-979C-BAFE-F6020D587010}"/>
              </a:ext>
            </a:extLst>
          </p:cNvPr>
          <p:cNvSpPr txBox="1"/>
          <p:nvPr/>
        </p:nvSpPr>
        <p:spPr bwMode="auto">
          <a:xfrm>
            <a:off x="1507921" y="3476938"/>
            <a:ext cx="2558714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aseline="-25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  <a:r>
              <a:rPr lang="en-US" sz="5400" baseline="-25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972748-7CBF-3185-5377-4A029D224B1A}"/>
              </a:ext>
            </a:extLst>
          </p:cNvPr>
          <p:cNvSpPr txBox="1"/>
          <p:nvPr/>
        </p:nvSpPr>
        <p:spPr bwMode="auto">
          <a:xfrm>
            <a:off x="2821398" y="5340833"/>
            <a:ext cx="2558714" cy="8402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5400" baseline="-25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5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5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  <a:r>
              <a:rPr lang="en-US" sz="5400" baseline="-25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EAAF9F-D265-692B-C54C-15EA7667E7AA}"/>
              </a:ext>
            </a:extLst>
          </p:cNvPr>
          <p:cNvCxnSpPr/>
          <p:nvPr/>
        </p:nvCxnSpPr>
        <p:spPr bwMode="auto">
          <a:xfrm flipH="1" flipV="1">
            <a:off x="6312024" y="3356992"/>
            <a:ext cx="286523" cy="671810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5C0CC8-83C5-1FD7-1B7E-0E133F9A1C82}"/>
              </a:ext>
            </a:extLst>
          </p:cNvPr>
          <p:cNvCxnSpPr/>
          <p:nvPr/>
        </p:nvCxnSpPr>
        <p:spPr bwMode="auto">
          <a:xfrm flipH="1" flipV="1">
            <a:off x="6312024" y="3359600"/>
            <a:ext cx="1008112" cy="997730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36B1CB-570A-B7BC-59D7-43F4BF150957}"/>
              </a:ext>
            </a:extLst>
          </p:cNvPr>
          <p:cNvCxnSpPr/>
          <p:nvPr/>
        </p:nvCxnSpPr>
        <p:spPr bwMode="auto">
          <a:xfrm flipH="1" flipV="1">
            <a:off x="6816080" y="3143562"/>
            <a:ext cx="513949" cy="1227651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62951A-B4FF-67CD-3C7A-9162D5D3573D}"/>
              </a:ext>
            </a:extLst>
          </p:cNvPr>
          <p:cNvCxnSpPr/>
          <p:nvPr/>
        </p:nvCxnSpPr>
        <p:spPr bwMode="auto">
          <a:xfrm flipH="1" flipV="1">
            <a:off x="6824772" y="3143562"/>
            <a:ext cx="855404" cy="846595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AA3366-8E3C-40A3-3270-76BD727B96C5}"/>
              </a:ext>
            </a:extLst>
          </p:cNvPr>
          <p:cNvCxnSpPr/>
          <p:nvPr/>
        </p:nvCxnSpPr>
        <p:spPr bwMode="auto">
          <a:xfrm flipH="1" flipV="1">
            <a:off x="7260406" y="2982611"/>
            <a:ext cx="434285" cy="1037361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B1FE02-736C-150D-3630-95672AFC91B9}"/>
              </a:ext>
            </a:extLst>
          </p:cNvPr>
          <p:cNvCxnSpPr/>
          <p:nvPr/>
        </p:nvCxnSpPr>
        <p:spPr bwMode="auto">
          <a:xfrm flipH="1" flipV="1">
            <a:off x="7623384" y="2835802"/>
            <a:ext cx="367308" cy="877375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B37980-D63C-8C3E-D245-357D5074E637}"/>
              </a:ext>
            </a:extLst>
          </p:cNvPr>
          <p:cNvCxnSpPr/>
          <p:nvPr/>
        </p:nvCxnSpPr>
        <p:spPr bwMode="auto">
          <a:xfrm flipH="1" flipV="1">
            <a:off x="7248058" y="2968728"/>
            <a:ext cx="730626" cy="723102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DC775AF-BEA5-A455-61B9-65D23B300433}"/>
              </a:ext>
            </a:extLst>
          </p:cNvPr>
          <p:cNvSpPr txBox="1"/>
          <p:nvPr/>
        </p:nvSpPr>
        <p:spPr bwMode="auto">
          <a:xfrm rot="20176559">
            <a:off x="7850430" y="2523700"/>
            <a:ext cx="622286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0FA3B-8951-5117-6EFC-D2DA0EA31B91}"/>
              </a:ext>
            </a:extLst>
          </p:cNvPr>
          <p:cNvSpPr txBox="1"/>
          <p:nvPr/>
        </p:nvSpPr>
        <p:spPr bwMode="auto">
          <a:xfrm>
            <a:off x="6860494" y="4899700"/>
            <a:ext cx="413205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Alternating  and iterative projections. </a:t>
            </a:r>
          </a:p>
        </p:txBody>
      </p:sp>
    </p:spTree>
    <p:extLst>
      <p:ext uri="{BB962C8B-B14F-4D97-AF65-F5344CB8AC3E}">
        <p14:creationId xmlns:p14="http://schemas.microsoft.com/office/powerpoint/2010/main" val="2264294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FF57-FF30-13CE-C094-62363BD7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DF29E317-7A3C-E017-0292-BC8C7B544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ART Reconstruction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D2CC2ECE-8DE6-9D1D-654C-EE0580298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1"/>
            <a:ext cx="10441776" cy="252184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F60F5F-546C-E601-FE95-A3D9EDC4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073CC0-41B9-6971-EA48-FD8C18B33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24328"/>
              </p:ext>
            </p:extLst>
          </p:nvPr>
        </p:nvGraphicFramePr>
        <p:xfrm>
          <a:off x="2032000" y="1916832"/>
          <a:ext cx="8128000" cy="4206240"/>
        </p:xfrm>
        <a:graphic>
          <a:graphicData uri="http://schemas.openxmlformats.org/drawingml/2006/table">
            <a:tbl>
              <a:tblPr firstRow="1" bandRow="1"/>
              <a:tblGrid>
                <a:gridCol w="8128000">
                  <a:extLst>
                    <a:ext uri="{9D8B030D-6E8A-4147-A177-3AD203B41FA5}">
                      <a16:colId xmlns:a16="http://schemas.microsoft.com/office/drawing/2014/main" val="3300824830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Algorithm: ART reconstruction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41879"/>
                  </a:ext>
                </a:extLst>
              </a:tr>
              <a:tr h="2254163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Input: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Initialization: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(optional)</a:t>
                      </a:r>
                    </a:p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k = 1 to K</a:t>
                      </a:r>
                    </a:p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for </a:t>
                      </a:r>
                      <a:r>
                        <a:rPr lang="en-US" sz="2400" b="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 to </a:t>
                      </a:r>
                      <a:r>
                        <a:rPr lang="en-US" sz="24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N</a:t>
                      </a:r>
                      <a:r>
                        <a:rPr lang="en-US" sz="2400" baseline="-25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× </a:t>
                      </a:r>
                      <a:r>
                        <a:rPr lang="en-US" sz="24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N</a:t>
                      </a:r>
                      <a:r>
                        <a:rPr lang="en-US" sz="2400" baseline="-250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l</a:t>
                      </a:r>
                      <a:r>
                        <a:rPr lang="en-US" sz="2400" baseline="-25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b="0" baseline="-25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i+1</a:t>
                      </a:r>
                      <a:r>
                        <a:rPr lang="en-US" sz="2400" b="0" baseline="30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(k) 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= projection 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b="0" baseline="-25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baseline="30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(k)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into the hyperplane: </a:t>
                      </a:r>
                      <a:r>
                        <a:rPr lang="en-US" sz="2400" b="1" baseline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b="0" baseline="-250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baseline="300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1" baseline="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= 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2400" b="0" baseline="-2500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b="1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&lt;0) = 0; 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   end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   until convergence.</a:t>
                      </a:r>
                      <a:endParaRPr lang="en-US" sz="2400" b="0" baseline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  </a:t>
                      </a:r>
                      <a:endParaRPr lang="en-US" sz="24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Return: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1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60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24941-F2DA-D9E8-A257-BD2E25BB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9A5BF5F6-4EB2-71EC-17FC-EA308C932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DBC124E0-889E-4663-F66E-0DD85CE5B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308005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#1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Shepp Logan 64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90 (from 0° to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179° at a constant step of 2°)</a:t>
            </a:r>
          </a:p>
          <a:p>
            <a:pPr lvl="1" eaLnBrk="1" hangingPunct="1">
              <a:defRPr/>
            </a:pP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round(sqrt(2)*</a:t>
            </a: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N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64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C0FFA2-F4F0-96E6-A09A-CE58B9BE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B7CEBE-EA2E-998B-D676-7DE01B15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156" y="2924944"/>
            <a:ext cx="3840000" cy="28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9768B9-F377-0054-8070-05E04098C3A8}"/>
              </a:ext>
            </a:extLst>
          </p:cNvPr>
          <p:cNvSpPr txBox="1"/>
          <p:nvPr/>
        </p:nvSpPr>
        <p:spPr bwMode="auto">
          <a:xfrm>
            <a:off x="8565831" y="5792089"/>
            <a:ext cx="214864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</a:t>
            </a: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hepp Logan 64</a:t>
            </a:r>
            <a:endParaRPr lang="en-US" sz="2000" dirty="0">
              <a:solidFill>
                <a:schemeClr val="accent4">
                  <a:lumMod val="1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097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C872-CFE1-9A06-C02F-68357A9C0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4339ABF0-9F17-6574-B27F-2805320AB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7F9EFD6E-2CD5-4D5C-D65D-E1F0AC9BD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308005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#2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XCAT 128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90 (from 0° to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179° at a constant step of 2°)</a:t>
            </a:r>
          </a:p>
          <a:p>
            <a:pPr lvl="1" eaLnBrk="1" hangingPunct="1">
              <a:defRPr/>
            </a:pP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round(sqrt(2)*</a:t>
            </a: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zh-CN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baseline="-25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N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128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BD6D60-5B98-7927-F6F1-F187655A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5E886-A8DC-D416-3429-BFDF86088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40" y="2636912"/>
            <a:ext cx="3840000" cy="28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013FEC-F643-B1C7-FC66-B33C9DD7EC71}"/>
              </a:ext>
            </a:extLst>
          </p:cNvPr>
          <p:cNvSpPr txBox="1"/>
          <p:nvPr/>
        </p:nvSpPr>
        <p:spPr bwMode="auto">
          <a:xfrm>
            <a:off x="9101916" y="5504057"/>
            <a:ext cx="214864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XCAT 128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D6A6F-33C6-C698-88C1-117EAD1A5BAF}"/>
              </a:ext>
            </a:extLst>
          </p:cNvPr>
          <p:cNvSpPr txBox="1"/>
          <p:nvPr/>
        </p:nvSpPr>
        <p:spPr bwMode="auto">
          <a:xfrm>
            <a:off x="9096617" y="5805104"/>
            <a:ext cx="214864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(Human chest)</a:t>
            </a:r>
          </a:p>
        </p:txBody>
      </p:sp>
    </p:spTree>
    <p:extLst>
      <p:ext uri="{BB962C8B-B14F-4D97-AF65-F5344CB8AC3E}">
        <p14:creationId xmlns:p14="http://schemas.microsoft.com/office/powerpoint/2010/main" val="587968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685A-0FA2-17FD-FC74-309961D3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C36DFBAF-0778-E6E1-8507-85901FA76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Task (80%) 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9201F44A-E44A-94D0-2E1B-EB2CAC874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381798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have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Two datasets, i.e., ground truths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corresponding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noised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(15 dB, 20 dB, 25 dB, 30 dB)</a:t>
            </a:r>
          </a:p>
          <a:p>
            <a:pPr eaLnBrk="1" hangingPunct="1">
              <a:defRPr/>
            </a:pPr>
            <a:r>
              <a:rPr lang="en-US" altLang="zh-C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need to do</a:t>
            </a: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Reconstructing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via </a:t>
            </a:r>
            <a:r>
              <a:rPr lang="en-US" altLang="zh-CN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Reconstructing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via </a:t>
            </a:r>
            <a:r>
              <a:rPr lang="en-US" altLang="zh-CN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ART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Adding regularizations (L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L</a:t>
            </a:r>
            <a:r>
              <a:rPr lang="en-US" altLang="zh-CN" baseline="-25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TV…)  to your reconstructions.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Analyzing your results.</a:t>
            </a:r>
          </a:p>
          <a:p>
            <a:pPr marL="254250" lvl="1" indent="0" eaLnBrk="1" hangingPunct="1">
              <a:buNone/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78EA38-B62B-A640-13D2-DD664877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2217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32D3A-8176-40F7-C644-A29FB88F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60B126C7-A16A-088E-E458-37840DE85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(20%) </a:t>
            </a:r>
            <a:endParaRPr lang="zh-CN" altLang="en-US" dirty="0"/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A94C6C91-7B6A-D0E1-4226-980A89357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800" y="1267200"/>
            <a:ext cx="10441776" cy="381798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underestimated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Ax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system by reducing No. angles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Low-dose CT, which is helpful to reduce X-ray radiation.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Other solutions</a:t>
            </a:r>
          </a:p>
          <a:p>
            <a:pPr lvl="1" eaLnBrk="1" hangingPunct="1">
              <a:defRPr/>
            </a:pP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AI-assisted reconstruction?</a:t>
            </a:r>
          </a:p>
          <a:p>
            <a:pPr lvl="1" eaLnBrk="1" hangingPunct="1">
              <a:defRPr/>
            </a:pPr>
            <a:r>
              <a:rPr lang="en-US" altLang="zh-CN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AI-assisted denoising</a:t>
            </a:r>
            <a:r>
              <a:rPr lang="en-US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defRPr/>
            </a:pPr>
            <a:endParaRPr lang="en-US" altLang="zh-C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54A623-346A-5FFD-D107-8FDD4648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FF9D8A-9DC0-4D69-8518-70DAC50E02B1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481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530936-D612-48E9-913D-1516FB48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3955B6-121D-4605-991E-437CBD3DEA0A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pic>
        <p:nvPicPr>
          <p:cNvPr id="3" name="Picture 3" descr="C:\Users\WanDuo\Desktop\XMU\XMU Template\header-logo-white2.png">
            <a:extLst>
              <a:ext uri="{FF2B5EF4-FFF2-40B4-BE49-F238E27FC236}">
                <a16:creationId xmlns:a16="http://schemas.microsoft.com/office/drawing/2014/main" id="{3A0847EC-54B1-4C3D-84A5-04EB11EA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51938"/>
            <a:ext cx="914400" cy="91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02EFBDF-3219-48BF-BB49-0C0175CFE14E}"/>
              </a:ext>
            </a:extLst>
          </p:cNvPr>
          <p:cNvSpPr txBox="1">
            <a:spLocks/>
          </p:cNvSpPr>
          <p:nvPr/>
        </p:nvSpPr>
        <p:spPr>
          <a:xfrm>
            <a:off x="5056414" y="1916832"/>
            <a:ext cx="2079171" cy="1246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C000"/>
                </a:solidFill>
                <a:latin typeface="Calibri Light" panose="020F0302020204030204"/>
                <a:ea typeface="等线 Light" panose="02010600030101010101" pitchFamily="2" charset="-122"/>
              </a:rPr>
              <a:t>Q &amp; A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3743992"/>
      </p:ext>
    </p:extLst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 bwMode="auto">
        <a:noFill/>
        <a:ln>
          <a:noFill/>
        </a:ln>
        <a:effectLst/>
      </a:spPr>
      <a:bodyPr/>
      <a:lstStyle>
        <a:defPPr eaLnBrk="1" hangingPunct="1">
          <a:lnSpc>
            <a:spcPct val="90000"/>
          </a:lnSpc>
          <a:defRPr sz="280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15113</TotalTime>
  <Words>671</Words>
  <Application>Microsoft Office PowerPoint</Application>
  <PresentationFormat>Widescreen</PresentationFormat>
  <Paragraphs>181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宋体</vt:lpstr>
      <vt:lpstr>微软雅黑</vt:lpstr>
      <vt:lpstr>Arial</vt:lpstr>
      <vt:lpstr>Calibri</vt:lpstr>
      <vt:lpstr>Calibri Light</vt:lpstr>
      <vt:lpstr>Verdana</vt:lpstr>
      <vt:lpstr>Wingdings</vt:lpstr>
      <vt:lpstr>Globe</vt:lpstr>
      <vt:lpstr>Project 1：CT Image Reconstruction</vt:lpstr>
      <vt:lpstr>Background</vt:lpstr>
      <vt:lpstr>Motivation</vt:lpstr>
      <vt:lpstr>Problem Formulation</vt:lpstr>
      <vt:lpstr>Problem Formulation</vt:lpstr>
      <vt:lpstr>Problem Formulation</vt:lpstr>
      <vt:lpstr>Problem Formulation</vt:lpstr>
      <vt:lpstr>Methods: LS Reconstruction</vt:lpstr>
      <vt:lpstr>Methods: LS Reconstruction</vt:lpstr>
      <vt:lpstr>Methods: ART Reconstruction</vt:lpstr>
      <vt:lpstr>Methods: ART Reconstruction</vt:lpstr>
      <vt:lpstr>Methods: ART Reconstruction</vt:lpstr>
      <vt:lpstr>Methods: ART Reconstruction</vt:lpstr>
      <vt:lpstr>Task </vt:lpstr>
      <vt:lpstr>Task </vt:lpstr>
      <vt:lpstr>Regular Task (80%) </vt:lpstr>
      <vt:lpstr>Extension (20%) </vt:lpstr>
      <vt:lpstr>PowerPoint Presentation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Chen Jiajun</dc:creator>
  <cp:lastModifiedBy>yinran chen</cp:lastModifiedBy>
  <cp:revision>395</cp:revision>
  <dcterms:created xsi:type="dcterms:W3CDTF">2004-08-24T14:17:49Z</dcterms:created>
  <dcterms:modified xsi:type="dcterms:W3CDTF">2026-09-23T10:02:21Z</dcterms:modified>
</cp:coreProperties>
</file>